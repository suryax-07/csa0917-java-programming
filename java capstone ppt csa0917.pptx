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Host Grotesk Medium" panose="020B0604020202020204" charset="0"/>
      <p:regular r:id="rId13"/>
    </p:embeddedFont>
    <p:embeddedFont>
      <p:font typeface="Roboto" panose="02000000000000000000" pitchFamily="2" charset="0"/>
      <p:regular r:id="rId14"/>
    </p:embeddedFont>
    <p:embeddedFont>
      <p:font typeface="Roboto Bold" panose="02000000000000000000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888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88368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 Computer Vision-Based Crop Disease Severity Assessment System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757860"/>
            <a:ext cx="3344361" cy="797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Presented by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N. Surya &amp; </a:t>
            </a:r>
            <a:r>
              <a:rPr lang="en-US" sz="1100" b="1" dirty="0" err="1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shaik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Mohammad </a:t>
            </a:r>
            <a:r>
              <a:rPr lang="en-US" sz="1100" b="1" dirty="0" err="1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fuzail</a:t>
            </a:r>
            <a:endParaRPr lang="en-US" sz="1100" b="1" dirty="0">
              <a:solidFill>
                <a:srgbClr val="384653"/>
              </a:solidFill>
              <a:latin typeface="Roboto Bold" pitchFamily="34" charset="0"/>
              <a:ea typeface="Roboto Bold" pitchFamily="34" charset="-122"/>
              <a:cs typeface="Roboto Bold" pitchFamily="34" charset="-120"/>
            </a:endParaRPr>
          </a:p>
          <a:p>
            <a:pPr marL="0" indent="0" algn="l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Register No.: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192511233 , 192565050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l">
              <a:lnSpc>
                <a:spcPct val="125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Course code : </a:t>
            </a: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CSA0917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Guided by 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Dr. </a:t>
            </a:r>
            <a:r>
              <a:rPr lang="en-US" sz="1100" b="1" dirty="0" err="1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vijayaragavan</a:t>
            </a: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7C261E-0F03-42A9-77CC-5B7914E87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671" y="4807671"/>
            <a:ext cx="1315329" cy="335829"/>
          </a:xfrm>
          <a:prstGeom prst="rect">
            <a:avLst/>
          </a:prstGeom>
        </p:spPr>
      </p:pic>
      <p:pic>
        <p:nvPicPr>
          <p:cNvPr id="7" name="Picture 6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EFAF7ECC-4A96-F96F-FFF8-62A8172517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8" y="36437"/>
            <a:ext cx="1104900" cy="12192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6CBAEBA-A157-F6C9-1A03-BEBE195FB5CD}"/>
              </a:ext>
            </a:extLst>
          </p:cNvPr>
          <p:cNvGrpSpPr/>
          <p:nvPr/>
        </p:nvGrpSpPr>
        <p:grpSpPr>
          <a:xfrm>
            <a:off x="7887734" y="-54051"/>
            <a:ext cx="1381125" cy="1400175"/>
            <a:chOff x="6142237" y="5892404"/>
            <a:chExt cx="1381125" cy="140017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24FD671-3A05-A712-C673-ACDF082F8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24162" y="6349796"/>
              <a:ext cx="617273" cy="571550"/>
            </a:xfrm>
            <a:prstGeom prst="rect">
              <a:avLst/>
            </a:prstGeom>
          </p:spPr>
        </p:pic>
        <p:pic>
          <p:nvPicPr>
            <p:cNvPr id="10" name="Picture 9" descr="A blue gear with a book and a pen in the middle&#10;&#10;AI-generated content may be incorrect.">
              <a:extLst>
                <a:ext uri="{FF2B5EF4-FFF2-40B4-BE49-F238E27FC236}">
                  <a16:creationId xmlns:a16="http://schemas.microsoft.com/office/drawing/2014/main" id="{061A8F71-7E84-3DF1-1963-9428C37BF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42237" y="5892404"/>
              <a:ext cx="1381125" cy="14001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0034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2094318"/>
            <a:ext cx="8151763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Agriculture is essential for food security and rural economies.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Crop diseases reduce yield and crop quality.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Manual inspection is slow and </a:t>
            </a:r>
            <a:r>
              <a:rPr lang="en-IN" sz="14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labor-intensive</a:t>
            </a:r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Large-scale field monitoring is difficult using traditional methods.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Drone multispectral imagery enables efficient crop monitoring.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Computer vision automates disease detection and analysis.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CNN models identify crop diseases and estimate severity.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Supports precision agriculture and timely treatment decisions.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3BF294-F160-E3DF-515A-D8D1792CD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671" y="4807671"/>
            <a:ext cx="1315329" cy="335829"/>
          </a:xfrm>
          <a:prstGeom prst="rect">
            <a:avLst/>
          </a:prstGeom>
        </p:spPr>
      </p:pic>
      <p:pic>
        <p:nvPicPr>
          <p:cNvPr id="9" name="Picture 8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0FF315FC-8F24-28CD-26B5-40595A1A3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8" y="36437"/>
            <a:ext cx="1104900" cy="12192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225896F-EC79-A5B8-885B-06E3BA889765}"/>
              </a:ext>
            </a:extLst>
          </p:cNvPr>
          <p:cNvGrpSpPr/>
          <p:nvPr/>
        </p:nvGrpSpPr>
        <p:grpSpPr>
          <a:xfrm>
            <a:off x="7887734" y="-54051"/>
            <a:ext cx="1381125" cy="1400175"/>
            <a:chOff x="6142237" y="5892404"/>
            <a:chExt cx="1381125" cy="140017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DE521C5-28CD-0C2F-25C0-6EA437269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24162" y="6349796"/>
              <a:ext cx="617273" cy="571550"/>
            </a:xfrm>
            <a:prstGeom prst="rect">
              <a:avLst/>
            </a:prstGeom>
          </p:spPr>
        </p:pic>
        <p:pic>
          <p:nvPicPr>
            <p:cNvPr id="12" name="Picture 11" descr="A blue gear with a book and a pen in the middle&#10;&#10;AI-generated content may be incorrect.">
              <a:extLst>
                <a:ext uri="{FF2B5EF4-FFF2-40B4-BE49-F238E27FC236}">
                  <a16:creationId xmlns:a16="http://schemas.microsoft.com/office/drawing/2014/main" id="{C949F473-C574-712D-4B38-7A66B2F22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42237" y="5892404"/>
              <a:ext cx="1381125" cy="14001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97124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2035001"/>
            <a:ext cx="8151763" cy="999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field scouting is time-consuming and inconsistent for large farms.</a:t>
            </a:r>
            <a:endParaRPr lang="en-US" sz="14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symptoms are subtle and often missed by visual inspection.</a:t>
            </a:r>
            <a:endParaRPr lang="en-US" sz="14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Delayed detection causes yield loss and increases treatment cost.</a:t>
            </a:r>
            <a:endParaRPr lang="en-US" sz="14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structured image storage and historical tracking impedes longitudinal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6119" y="3193554"/>
            <a:ext cx="8151763" cy="552748"/>
          </a:xfrm>
          <a:prstGeom prst="roundRect">
            <a:avLst>
              <a:gd name="adj" fmla="val 10772"/>
            </a:avLst>
          </a:prstGeom>
          <a:solidFill>
            <a:srgbClr val="D9EDF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389561"/>
            <a:ext cx="177180" cy="14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3370734"/>
            <a:ext cx="8006507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Automated, repeatable assessment is needed to integrate disease severity into precision interventions.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4B3B92-574E-B5B8-8E03-53A1061ED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671" y="4807671"/>
            <a:ext cx="1315329" cy="335829"/>
          </a:xfrm>
          <a:prstGeom prst="rect">
            <a:avLst/>
          </a:prstGeom>
        </p:spPr>
      </p:pic>
      <p:pic>
        <p:nvPicPr>
          <p:cNvPr id="10" name="Picture 9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AC5C9B8F-B69A-9A42-129E-FC800C8046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8" y="36437"/>
            <a:ext cx="1104900" cy="12192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2EB679A-AC86-177B-2B3F-C7BA751FB8FA}"/>
              </a:ext>
            </a:extLst>
          </p:cNvPr>
          <p:cNvGrpSpPr/>
          <p:nvPr/>
        </p:nvGrpSpPr>
        <p:grpSpPr>
          <a:xfrm>
            <a:off x="7887734" y="-54051"/>
            <a:ext cx="1381125" cy="1400175"/>
            <a:chOff x="6142237" y="5892404"/>
            <a:chExt cx="1381125" cy="140017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47878F7-CBAD-4300-8D70-7259C1A7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24162" y="6349796"/>
              <a:ext cx="617273" cy="571550"/>
            </a:xfrm>
            <a:prstGeom prst="rect">
              <a:avLst/>
            </a:prstGeom>
          </p:spPr>
        </p:pic>
        <p:pic>
          <p:nvPicPr>
            <p:cNvPr id="13" name="Picture 12" descr="A blue gear with a book and a pen in the middle&#10;&#10;AI-generated content may be incorrect.">
              <a:extLst>
                <a:ext uri="{FF2B5EF4-FFF2-40B4-BE49-F238E27FC236}">
                  <a16:creationId xmlns:a16="http://schemas.microsoft.com/office/drawing/2014/main" id="{2F15A7BE-A310-A6D3-1CB1-C57FE7F26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42237" y="5892404"/>
              <a:ext cx="1381125" cy="14001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0672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96855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9287" y="199511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6816" y="2017216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1. Detect diseases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56816" y="2323728"/>
            <a:ext cx="352655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disease presence across multispectral drone images using CNN classifiers.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0553" y="1968550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3722" y="199511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121250" y="2017216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2. Quantify severity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121250" y="2323728"/>
            <a:ext cx="352663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 severity class (Healthy → Severe) to prioritize interventions.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032447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9287" y="305901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56816" y="3081114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3. Automate monitoring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56816" y="3387626"/>
            <a:ext cx="352655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large-area image batches and maintain a searchable repository.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0553" y="3032447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3722" y="3059013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121250" y="3081114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4. Recommend treatments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21250" y="3387626"/>
            <a:ext cx="3526631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spray schedules, dosages, and farmer-facing recommendations.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B25B4A3-974E-9FB9-C25D-58E7CCCEC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671" y="4807671"/>
            <a:ext cx="1315329" cy="335829"/>
          </a:xfrm>
          <a:prstGeom prst="rect">
            <a:avLst/>
          </a:prstGeom>
        </p:spPr>
      </p:pic>
      <p:pic>
        <p:nvPicPr>
          <p:cNvPr id="22" name="Picture 21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B7B6D272-0F67-DB01-A077-14B174510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8" y="36437"/>
            <a:ext cx="1104900" cy="12192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A64E73C-0466-E758-6457-B006DC091C3B}"/>
              </a:ext>
            </a:extLst>
          </p:cNvPr>
          <p:cNvGrpSpPr/>
          <p:nvPr/>
        </p:nvGrpSpPr>
        <p:grpSpPr>
          <a:xfrm>
            <a:off x="7887734" y="-54051"/>
            <a:ext cx="1381125" cy="1400175"/>
            <a:chOff x="6142237" y="5892404"/>
            <a:chExt cx="1381125" cy="140017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9CBAAF2-F641-4629-533F-B58672F48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24162" y="6349796"/>
              <a:ext cx="617273" cy="571550"/>
            </a:xfrm>
            <a:prstGeom prst="rect">
              <a:avLst/>
            </a:prstGeom>
          </p:spPr>
        </p:pic>
        <p:pic>
          <p:nvPicPr>
            <p:cNvPr id="25" name="Picture 24" descr="A blue gear with a book and a pen in the middle&#10;&#10;AI-generated content may be incorrect.">
              <a:extLst>
                <a:ext uri="{FF2B5EF4-FFF2-40B4-BE49-F238E27FC236}">
                  <a16:creationId xmlns:a16="http://schemas.microsoft.com/office/drawing/2014/main" id="{4EFFBAE5-41FB-1707-E52D-0664E373C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42237" y="5892404"/>
              <a:ext cx="1381125" cy="14001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618"/>
            <a:ext cx="8151763" cy="2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75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175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175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System Architecture — High Level Workflow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68" y="1670241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477" y="448199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CNN Detection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24477" y="363274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24477" y="285046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Image Repository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4477" y="209891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Capture Images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444454"/>
            <a:ext cx="8151763" cy="304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4E30DB-C17A-1B52-7B3E-A479FCDE5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671" y="4807671"/>
            <a:ext cx="1315329" cy="335829"/>
          </a:xfrm>
          <a:prstGeom prst="rect">
            <a:avLst/>
          </a:prstGeom>
        </p:spPr>
      </p:pic>
      <p:pic>
        <p:nvPicPr>
          <p:cNvPr id="12" name="Picture 11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BA50112E-A2BE-7C2A-5B42-563C3B5FB5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8" y="36437"/>
            <a:ext cx="1104900" cy="12192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2E8C117A-3FBB-FF4C-4014-A46FC996C7AA}"/>
              </a:ext>
            </a:extLst>
          </p:cNvPr>
          <p:cNvGrpSpPr/>
          <p:nvPr/>
        </p:nvGrpSpPr>
        <p:grpSpPr>
          <a:xfrm>
            <a:off x="7887734" y="-54051"/>
            <a:ext cx="1381125" cy="1400175"/>
            <a:chOff x="6142237" y="5892404"/>
            <a:chExt cx="1381125" cy="140017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92B848E-8991-8CBF-F500-0FA2380BA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24162" y="6349796"/>
              <a:ext cx="617273" cy="571550"/>
            </a:xfrm>
            <a:prstGeom prst="rect">
              <a:avLst/>
            </a:prstGeom>
          </p:spPr>
        </p:pic>
        <p:pic>
          <p:nvPicPr>
            <p:cNvPr id="15" name="Picture 14" descr="A blue gear with a book and a pen in the middle&#10;&#10;AI-generated content may be incorrect.">
              <a:extLst>
                <a:ext uri="{FF2B5EF4-FFF2-40B4-BE49-F238E27FC236}">
                  <a16:creationId xmlns:a16="http://schemas.microsoft.com/office/drawing/2014/main" id="{C91B428E-7EE9-8F0F-7A31-56549E118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42237" y="5892404"/>
              <a:ext cx="1381125" cy="14001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360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Image Repository Module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94022" y="1890564"/>
            <a:ext cx="3257327" cy="1929259"/>
          </a:xfrm>
          <a:prstGeom prst="roundRect">
            <a:avLst>
              <a:gd name="adj" fmla="val 5291"/>
            </a:avLst>
          </a:prstGeom>
          <a:solidFill>
            <a:srgbClr val="95CCDA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32322"/>
            <a:ext cx="297380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Purpose &amp; Benefits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395538"/>
            <a:ext cx="2973809" cy="1374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Centralized, secure storage of multispectral images and metadata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Organized by crop type, field ID, GPS coordinates, and date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versioning to support trend analysis and model retraining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99892" y="2032322"/>
            <a:ext cx="47526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Functions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899892" y="2395538"/>
            <a:ext cx="4752677" cy="736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 automated flight bundles and tile images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Index spectral bands, timestamps, and geolocation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APIs for preprocessing and model inference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99892" y="3260006"/>
            <a:ext cx="475267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emphasizes reproducibility: immutable raw image store plus processed derivatives.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71FA69-0E76-4127-8E82-CB6484F51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671" y="4807671"/>
            <a:ext cx="1315329" cy="335829"/>
          </a:xfrm>
          <a:prstGeom prst="rect">
            <a:avLst/>
          </a:prstGeom>
        </p:spPr>
      </p:pic>
      <p:pic>
        <p:nvPicPr>
          <p:cNvPr id="12" name="Picture 11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253110C8-A7D6-BDE4-7067-C64B13307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8" y="36437"/>
            <a:ext cx="1104900" cy="12192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9F6D3B3-AF89-FC54-7126-A8BCAD5535DB}"/>
              </a:ext>
            </a:extLst>
          </p:cNvPr>
          <p:cNvGrpSpPr/>
          <p:nvPr/>
        </p:nvGrpSpPr>
        <p:grpSpPr>
          <a:xfrm>
            <a:off x="7887734" y="-54051"/>
            <a:ext cx="1381125" cy="1400175"/>
            <a:chOff x="6142237" y="5892404"/>
            <a:chExt cx="1381125" cy="140017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AF3616C-CDF3-16A2-44F8-AB801805BF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24162" y="6349796"/>
              <a:ext cx="617273" cy="571550"/>
            </a:xfrm>
            <a:prstGeom prst="rect">
              <a:avLst/>
            </a:prstGeom>
          </p:spPr>
        </p:pic>
        <p:pic>
          <p:nvPicPr>
            <p:cNvPr id="15" name="Picture 14" descr="A blue gear with a book and a pen in the middle&#10;&#10;AI-generated content may be incorrect.">
              <a:extLst>
                <a:ext uri="{FF2B5EF4-FFF2-40B4-BE49-F238E27FC236}">
                  <a16:creationId xmlns:a16="http://schemas.microsoft.com/office/drawing/2014/main" id="{3291BE81-8477-4428-07B7-34C845044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42237" y="5892404"/>
              <a:ext cx="1381125" cy="14001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2657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20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2200" dirty="0">
              <a:solidFill>
                <a:srgbClr val="2E3C4E"/>
              </a:solidFill>
              <a:latin typeface="Host Grotesk Medium" pitchFamily="34" charset="0"/>
              <a:ea typeface="Host Grotesk Medium" pitchFamily="34" charset="-122"/>
              <a:cs typeface="Host Grotesk Medium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ML Inference Module —Model &amp; Pipeline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1430" y="2146548"/>
            <a:ext cx="4752677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The inference pipeline standardizes inputs (radiometric correction, band alignment), extracts features, and applies CNN architectures trained on labelled multispectral patches. Outputs include disease presence probability and a discrete severity class: Healthy, Mild, Moderate, Severe.    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6687" y="3371850"/>
            <a:ext cx="4752677" cy="949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Preprocessing: noise reduction, normalization, geometric alignment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Model: CNN (transfer learning + custom head) adapted for multispectral channels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per-tile disease probability map and severity heatmap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9435" y="1389087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30975" y="1389087"/>
            <a:ext cx="2521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Feature extraction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130975" y="1752302"/>
            <a:ext cx="2521595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Spectral + texture features from multispectral bands.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99435" y="2461022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30975" y="2461022"/>
            <a:ext cx="2521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130975" y="2824237"/>
            <a:ext cx="2521595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augmentation, class balancing, cross-validation.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9435" y="3532956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0975" y="3532956"/>
            <a:ext cx="2521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Spatial outputs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130975" y="3896171"/>
            <a:ext cx="2521595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Georeferenced severity maps for field-level decisions.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B02429-919A-7DC4-B977-F93B44B9D1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8671" y="4807671"/>
            <a:ext cx="1315329" cy="335829"/>
          </a:xfrm>
          <a:prstGeom prst="rect">
            <a:avLst/>
          </a:prstGeom>
        </p:spPr>
      </p:pic>
      <p:pic>
        <p:nvPicPr>
          <p:cNvPr id="17" name="Picture 16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57E5A91D-7F00-4E02-8F37-A9333E7A8B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78" y="36437"/>
            <a:ext cx="1039868" cy="114744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EC815E0-EC52-A00B-D064-8D46F599924C}"/>
              </a:ext>
            </a:extLst>
          </p:cNvPr>
          <p:cNvGrpSpPr/>
          <p:nvPr/>
        </p:nvGrpSpPr>
        <p:grpSpPr>
          <a:xfrm>
            <a:off x="7887734" y="-54051"/>
            <a:ext cx="1381125" cy="1400175"/>
            <a:chOff x="6142237" y="5892404"/>
            <a:chExt cx="1381125" cy="140017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7B49A09-0748-1A76-3EFD-C6369FBF6D7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24162" y="6349796"/>
              <a:ext cx="617273" cy="571550"/>
            </a:xfrm>
            <a:prstGeom prst="rect">
              <a:avLst/>
            </a:prstGeom>
          </p:spPr>
        </p:pic>
        <p:pic>
          <p:nvPicPr>
            <p:cNvPr id="20" name="Picture 19" descr="A blue gear with a book and a pen in the middle&#10;&#10;AI-generated content may be incorrect.">
              <a:extLst>
                <a:ext uri="{FF2B5EF4-FFF2-40B4-BE49-F238E27FC236}">
                  <a16:creationId xmlns:a16="http://schemas.microsoft.com/office/drawing/2014/main" id="{3996B950-2F92-0038-C67E-FF1137DE4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142237" y="5892404"/>
              <a:ext cx="1381125" cy="14001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770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      Spray Scheduler Module &amp; Core Java Concepts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45580"/>
            <a:ext cx="2622724" cy="26902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70638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Scheduler Functionality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012900"/>
            <a:ext cx="2224906" cy="1275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Translate severity maps into prioritized treatment zones, compute application rates, and schedule spray operations considering weather and crop stage.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545580"/>
            <a:ext cx="2622724" cy="269021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70638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 Persistence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2012900"/>
            <a:ext cx="2224906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Treatment history logged for compliance and model feedback loops.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545580"/>
            <a:ext cx="2622724" cy="269021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706389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Java Implementation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2012900"/>
            <a:ext cx="2224906" cy="206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JavaCV (OpenCV bindings) for preprocessing pipelines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Fork/Join Pool for parallel tile processing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Adapter pattern for integrating different drone vendor APIs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annotations for metadata validation and pipeline instrumentation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90BDD5-2287-333F-6A64-0600DE0CD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671" y="4807671"/>
            <a:ext cx="1315329" cy="335829"/>
          </a:xfrm>
          <a:prstGeom prst="rect">
            <a:avLst/>
          </a:prstGeom>
        </p:spPr>
      </p:pic>
      <p:pic>
        <p:nvPicPr>
          <p:cNvPr id="15" name="Picture 14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F8E64C68-C259-077B-9BB1-52EF29A69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8" y="36437"/>
            <a:ext cx="1104900" cy="12192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F888F74-C2CF-C6D0-2684-6B5A277C08C8}"/>
              </a:ext>
            </a:extLst>
          </p:cNvPr>
          <p:cNvGrpSpPr/>
          <p:nvPr/>
        </p:nvGrpSpPr>
        <p:grpSpPr>
          <a:xfrm>
            <a:off x="7887734" y="-54051"/>
            <a:ext cx="1381125" cy="1400175"/>
            <a:chOff x="6142237" y="5892404"/>
            <a:chExt cx="1381125" cy="140017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C5B3DF6-D8C1-A389-1730-BA12D7543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24162" y="6349796"/>
              <a:ext cx="617273" cy="571550"/>
            </a:xfrm>
            <a:prstGeom prst="rect">
              <a:avLst/>
            </a:prstGeom>
          </p:spPr>
        </p:pic>
        <p:pic>
          <p:nvPicPr>
            <p:cNvPr id="18" name="Picture 17" descr="A blue gear with a book and a pen in the middle&#10;&#10;AI-generated content may be incorrect.">
              <a:extLst>
                <a:ext uri="{FF2B5EF4-FFF2-40B4-BE49-F238E27FC236}">
                  <a16:creationId xmlns:a16="http://schemas.microsoft.com/office/drawing/2014/main" id="{B9CF359D-7694-CADB-F572-1870E6EE3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42237" y="5892404"/>
              <a:ext cx="1381125" cy="14001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230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        Technologies, Expected Results &amp; Advantages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94022" y="1249263"/>
            <a:ext cx="4107135" cy="3211934"/>
          </a:xfrm>
          <a:prstGeom prst="roundRect">
            <a:avLst>
              <a:gd name="adj" fmla="val 3178"/>
            </a:avLst>
          </a:prstGeom>
          <a:solidFill>
            <a:srgbClr val="C7E0E7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391022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 Stack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754237"/>
            <a:ext cx="3823618" cy="1211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 + JavaCV / OpenCV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DL4J (DeepLearning4J) for model serving and training pipelines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 for metadata and treatment history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Drone platforms with multispectral sensors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39102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Outcomes &amp; Advantages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754237"/>
            <a:ext cx="3902943" cy="16368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Accurate disease detection and severity classification enabling targeted interventions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analysis of large areas — scalable parallel processing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detection reduces crop loss and pesticide overuse</a:t>
            </a:r>
            <a:endParaRPr lang="en-US" sz="1100" dirty="0"/>
          </a:p>
          <a:p>
            <a:pPr marL="223520" indent="-223520" algn="l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Actionable spray schedules and historical records for continuous improvement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3550593"/>
            <a:ext cx="3902943" cy="751136"/>
          </a:xfrm>
          <a:prstGeom prst="roundRect">
            <a:avLst>
              <a:gd name="adj" fmla="val 7927"/>
            </a:avLst>
          </a:prstGeom>
          <a:solidFill>
            <a:srgbClr val="B6FCB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3756124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0398" y="3713559"/>
            <a:ext cx="330048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Expected: improved yield and cost-efficiency through data-driven farm management.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A5856C5-D217-49A9-AF9C-EB41E13F8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671" y="4807671"/>
            <a:ext cx="1315329" cy="335829"/>
          </a:xfrm>
          <a:prstGeom prst="rect">
            <a:avLst/>
          </a:prstGeom>
        </p:spPr>
      </p:pic>
      <p:pic>
        <p:nvPicPr>
          <p:cNvPr id="14" name="Picture 13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693051C0-3A75-F79B-8C17-8D53D8C7B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8" y="36437"/>
            <a:ext cx="1104900" cy="12192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DBBF006-9083-C3A2-C38D-25E368277CD1}"/>
              </a:ext>
            </a:extLst>
          </p:cNvPr>
          <p:cNvGrpSpPr/>
          <p:nvPr/>
        </p:nvGrpSpPr>
        <p:grpSpPr>
          <a:xfrm>
            <a:off x="7887734" y="-54051"/>
            <a:ext cx="1381125" cy="1400175"/>
            <a:chOff x="6142237" y="5892404"/>
            <a:chExt cx="1381125" cy="140017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DFABAE9-355A-1CC8-4F28-DF85E1F90A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24162" y="6349796"/>
              <a:ext cx="617273" cy="571550"/>
            </a:xfrm>
            <a:prstGeom prst="rect">
              <a:avLst/>
            </a:prstGeom>
          </p:spPr>
        </p:pic>
        <p:pic>
          <p:nvPicPr>
            <p:cNvPr id="17" name="Picture 16" descr="A blue gear with a book and a pen in the middle&#10;&#10;AI-generated content may be incorrect.">
              <a:extLst>
                <a:ext uri="{FF2B5EF4-FFF2-40B4-BE49-F238E27FC236}">
                  <a16:creationId xmlns:a16="http://schemas.microsoft.com/office/drawing/2014/main" id="{2E0E5064-D276-C8A2-C2F0-80C5B8D04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42237" y="5892404"/>
              <a:ext cx="1381125" cy="14001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5084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Conclusions &amp; Next Steps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78296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004864"/>
            <a:ext cx="2622724" cy="1905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11380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20317"/>
            <a:ext cx="2622724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Field trials across diverse crops and seasons to validate model generalization and severity thresholds.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78296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2004864"/>
            <a:ext cx="2622724" cy="1905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211380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Optimization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420317"/>
            <a:ext cx="2622724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Refine CNN architecture for multispectral inputs, reduce false positives, and optimize latency for near-real-time use.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782961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004864"/>
            <a:ext cx="2622724" cy="1905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2113806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420317"/>
            <a:ext cx="2622724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 with farm management systems and add farmer UI for recommendations, feedback, and manual overrides.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557662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6119" y="3785815"/>
            <a:ext cx="86089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Thank you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376C5C-1BB7-49E2-B4E6-FB20DB0A9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671" y="4807671"/>
            <a:ext cx="1315329" cy="335829"/>
          </a:xfrm>
          <a:prstGeom prst="rect">
            <a:avLst/>
          </a:prstGeom>
        </p:spPr>
      </p:pic>
      <p:pic>
        <p:nvPicPr>
          <p:cNvPr id="20" name="Picture 19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988EE47D-7EBA-77CE-18E9-9C7342AC3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8" y="36437"/>
            <a:ext cx="1104900" cy="12192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02C7A15-D132-6015-E7D1-BD90DA95AE36}"/>
              </a:ext>
            </a:extLst>
          </p:cNvPr>
          <p:cNvGrpSpPr/>
          <p:nvPr/>
        </p:nvGrpSpPr>
        <p:grpSpPr>
          <a:xfrm>
            <a:off x="7887734" y="-54051"/>
            <a:ext cx="1381125" cy="1400175"/>
            <a:chOff x="6142237" y="5892404"/>
            <a:chExt cx="1381125" cy="140017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80BC7D7-32D7-9BBE-4C8D-9F432CD89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24162" y="6349796"/>
              <a:ext cx="617273" cy="571550"/>
            </a:xfrm>
            <a:prstGeom prst="rect">
              <a:avLst/>
            </a:prstGeom>
          </p:spPr>
        </p:pic>
        <p:pic>
          <p:nvPicPr>
            <p:cNvPr id="23" name="Picture 22" descr="A blue gear with a book and a pen in the middle&#10;&#10;AI-generated content may be incorrect.">
              <a:extLst>
                <a:ext uri="{FF2B5EF4-FFF2-40B4-BE49-F238E27FC236}">
                  <a16:creationId xmlns:a16="http://schemas.microsoft.com/office/drawing/2014/main" id="{434924D9-4420-CECE-3631-46891B3A4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42237" y="5892404"/>
              <a:ext cx="1381125" cy="14001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663</Words>
  <Application>Microsoft Office PowerPoint</Application>
  <PresentationFormat>On-screen Show (16:9)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Host Grotesk Medium</vt:lpstr>
      <vt:lpstr>Roboto</vt:lpstr>
      <vt:lpstr>Roboto Bold</vt:lpstr>
      <vt:lpstr>Host Grotesk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SURYA NANDAKUMAR</dc:creator>
  <cp:lastModifiedBy>SURYA NANDAKUMAR</cp:lastModifiedBy>
  <cp:revision>2</cp:revision>
  <dcterms:created xsi:type="dcterms:W3CDTF">2026-08-06T05:42:41Z</dcterms:created>
  <dcterms:modified xsi:type="dcterms:W3CDTF">2026-08-06T05:55:21Z</dcterms:modified>
</cp:coreProperties>
</file>